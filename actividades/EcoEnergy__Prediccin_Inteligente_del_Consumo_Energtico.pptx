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3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6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69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00038"/>
            <a:ext cx="171450" cy="171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8638" y="285750"/>
            <a:ext cx="80188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EcoEnergy</a:t>
            </a:r>
            <a:endParaRPr lang="en-US" sz="1250" dirty="0"/>
          </a:p>
        </p:txBody>
      </p:sp>
      <p:sp>
        <p:nvSpPr>
          <p:cNvPr id="5" name="Shape 1"/>
          <p:cNvSpPr/>
          <p:nvPr/>
        </p:nvSpPr>
        <p:spPr>
          <a:xfrm>
            <a:off x="1000125" y="335812"/>
            <a:ext cx="7143750" cy="447187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500438" y="771581"/>
            <a:ext cx="571500" cy="57150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747" y="928743"/>
            <a:ext cx="192881" cy="25717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286250" y="771581"/>
            <a:ext cx="571500" cy="57150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7339" y="928743"/>
            <a:ext cx="289322" cy="25717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072063" y="771581"/>
            <a:ext cx="571500" cy="57150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7078" y="928743"/>
            <a:ext cx="321469" cy="2571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428750" y="1628831"/>
            <a:ext cx="6286500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EcoEnergy – Predicción Inteligente del Consumo Energético</a:t>
            </a:r>
            <a:endParaRPr lang="en-US" sz="3500" dirty="0"/>
          </a:p>
        </p:txBody>
      </p:sp>
      <p:sp>
        <p:nvSpPr>
          <p:cNvPr id="13" name="Text 6"/>
          <p:cNvSpPr/>
          <p:nvPr/>
        </p:nvSpPr>
        <p:spPr>
          <a:xfrm>
            <a:off x="1428750" y="3731884"/>
            <a:ext cx="6286500" cy="276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700" dirty="0">
                <a:solidFill>
                  <a:srgbClr val="F4F6F8">
                    <a:alpha val="90000"/>
                  </a:srgb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Predicción y Optimización del Consumo Energético </a:t>
            </a:r>
            <a:r>
              <a:rPr lang="en-US" sz="1700" dirty="0" err="1">
                <a:solidFill>
                  <a:srgbClr val="F4F6F8">
                    <a:alpha val="90000"/>
                  </a:srgb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</a:t>
            </a:r>
            <a:r>
              <a:rPr lang="en-US" sz="1700" dirty="0">
                <a:solidFill>
                  <a:srgbClr val="F4F6F8">
                    <a:alpha val="90000"/>
                  </a:srgb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700" dirty="0" err="1">
                <a:solidFill>
                  <a:srgbClr val="F4F6F8">
                    <a:alpha val="90000"/>
                  </a:srgb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Hogares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A2E4A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85750"/>
            <a:ext cx="357188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8688" y="294680"/>
            <a:ext cx="6309717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 Modelo Explica el 98% del Consumo Energético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428625" y="1427857"/>
            <a:ext cx="3929063" cy="257353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1656457"/>
            <a:ext cx="214313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4406" y="1642170"/>
            <a:ext cx="29164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Modelo: Regresión Lineal Supervisada</a:t>
            </a:r>
            <a:endParaRPr lang="en-US" sz="12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2086868"/>
            <a:ext cx="87511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37605" y="1985070"/>
            <a:ext cx="330577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Entrenado para identificar la relación entre variables del hogar y consumo energético</a:t>
            </a:r>
            <a:endParaRPr lang="en-US" sz="9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8" y="2421731"/>
            <a:ext cx="87511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37605" y="2395835"/>
            <a:ext cx="3048595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División de datos: conjunto de entrenamiento y prueba</a:t>
            </a:r>
            <a:endParaRPr lang="en-US" sz="9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8" y="2776240"/>
            <a:ext cx="171450" cy="1714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21544" y="2761952"/>
            <a:ext cx="16037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Variables del Modelo</a:t>
            </a:r>
            <a:endParaRPr lang="en-US" sz="1250" dirty="0"/>
          </a:p>
        </p:txBody>
      </p:sp>
      <p:sp>
        <p:nvSpPr>
          <p:cNvPr id="15" name="Shape 7"/>
          <p:cNvSpPr/>
          <p:nvPr/>
        </p:nvSpPr>
        <p:spPr>
          <a:xfrm>
            <a:off x="642938" y="3104852"/>
            <a:ext cx="1714500" cy="30539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Text 8"/>
          <p:cNvSpPr/>
          <p:nvPr/>
        </p:nvSpPr>
        <p:spPr>
          <a:xfrm>
            <a:off x="642938" y="3104852"/>
            <a:ext cx="171450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Temperatura</a:t>
            </a:r>
            <a:endParaRPr lang="en-US" sz="850" dirty="0"/>
          </a:p>
        </p:txBody>
      </p:sp>
      <p:sp>
        <p:nvSpPr>
          <p:cNvPr id="17" name="Shape 9"/>
          <p:cNvSpPr/>
          <p:nvPr/>
        </p:nvSpPr>
        <p:spPr>
          <a:xfrm>
            <a:off x="2428875" y="3104852"/>
            <a:ext cx="1714500" cy="30539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Text 10"/>
          <p:cNvSpPr/>
          <p:nvPr/>
        </p:nvSpPr>
        <p:spPr>
          <a:xfrm>
            <a:off x="2428875" y="3104852"/>
            <a:ext cx="171450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Personas</a:t>
            </a:r>
            <a:endParaRPr lang="en-US" sz="850" dirty="0"/>
          </a:p>
        </p:txBody>
      </p:sp>
      <p:sp>
        <p:nvSpPr>
          <p:cNvPr id="19" name="Shape 11"/>
          <p:cNvSpPr/>
          <p:nvPr/>
        </p:nvSpPr>
        <p:spPr>
          <a:xfrm>
            <a:off x="642938" y="3481685"/>
            <a:ext cx="1714500" cy="30539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Text 12"/>
          <p:cNvSpPr/>
          <p:nvPr/>
        </p:nvSpPr>
        <p:spPr>
          <a:xfrm>
            <a:off x="642938" y="3481685"/>
            <a:ext cx="171450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Horas_AC</a:t>
            </a:r>
            <a:endParaRPr lang="en-US" sz="850" dirty="0"/>
          </a:p>
        </p:txBody>
      </p:sp>
      <p:sp>
        <p:nvSpPr>
          <p:cNvPr id="21" name="Shape 13"/>
          <p:cNvSpPr/>
          <p:nvPr/>
        </p:nvSpPr>
        <p:spPr>
          <a:xfrm>
            <a:off x="2428875" y="3481685"/>
            <a:ext cx="1714500" cy="30539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Text 14"/>
          <p:cNvSpPr/>
          <p:nvPr/>
        </p:nvSpPr>
        <p:spPr>
          <a:xfrm>
            <a:off x="2428875" y="3481685"/>
            <a:ext cx="171450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Horas_TV</a:t>
            </a:r>
            <a:endParaRPr lang="en-US" sz="850" dirty="0"/>
          </a:p>
        </p:txBody>
      </p:sp>
      <p:sp>
        <p:nvSpPr>
          <p:cNvPr id="23" name="Shape 15"/>
          <p:cNvSpPr/>
          <p:nvPr/>
        </p:nvSpPr>
        <p:spPr>
          <a:xfrm>
            <a:off x="4786313" y="1366242"/>
            <a:ext cx="3929063" cy="269676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4" name="Text 16"/>
          <p:cNvSpPr/>
          <p:nvPr/>
        </p:nvSpPr>
        <p:spPr>
          <a:xfrm>
            <a:off x="5143500" y="1723430"/>
            <a:ext cx="3214688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Precisión del Modelo</a:t>
            </a:r>
            <a:endParaRPr lang="en-US" sz="1700" dirty="0"/>
          </a:p>
        </p:txBody>
      </p:sp>
      <p:sp>
        <p:nvSpPr>
          <p:cNvPr id="25" name="Text 17"/>
          <p:cNvSpPr/>
          <p:nvPr/>
        </p:nvSpPr>
        <p:spPr>
          <a:xfrm>
            <a:off x="5143500" y="2134195"/>
            <a:ext cx="3214688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0.98</a:t>
            </a:r>
            <a:endParaRPr lang="en-US" sz="6600" dirty="0"/>
          </a:p>
        </p:txBody>
      </p:sp>
      <p:sp>
        <p:nvSpPr>
          <p:cNvPr id="26" name="Text 18"/>
          <p:cNvSpPr/>
          <p:nvPr/>
        </p:nvSpPr>
        <p:spPr>
          <a:xfrm>
            <a:off x="5143500" y="3062883"/>
            <a:ext cx="32146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modelo explica el 98% de la variabilidad del consumo energético, capturando con altísima fidelidad los patrones en los hogares analizados.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E4A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50" y="4750594"/>
            <a:ext cx="214313" cy="214313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42938" y="4761309"/>
            <a:ext cx="6573916" cy="1633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 0.98 indica que el modelo captura con altísima fidelidad los patrones de consumo energético en los hogares analizados.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1107281"/>
          </a:xfrm>
          <a:prstGeom prst="rect">
            <a:avLst/>
          </a:prstGeom>
          <a:solidFill>
            <a:srgbClr val="1A2E4A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10766"/>
            <a:ext cx="2857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250" y="285750"/>
            <a:ext cx="7858125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Las Variables del Hogar Muestran una Tendencia Lineal Positiva con el Consumo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428625" y="1393031"/>
            <a:ext cx="8286750" cy="74116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677888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1544" y="1611809"/>
            <a:ext cx="1671638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Temperatura ↑</a:t>
            </a:r>
            <a:r>
              <a:rPr lang="en-US" sz="9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Consumo ↑
Relación directa</a:t>
            </a:r>
            <a:endParaRPr lang="en-US" sz="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928" y="1677888"/>
            <a:ext cx="214313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631397" y="1611809"/>
            <a:ext cx="213598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Número de personas ↑</a:t>
            </a:r>
            <a:r>
              <a:rPr lang="en-US" sz="9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Consumo ↑
Relación directa</a:t>
            </a:r>
            <a:endParaRPr lang="en-US" sz="9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919" y="1677888"/>
            <a:ext cx="171450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255525" y="1535906"/>
            <a:ext cx="2245509" cy="45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Las gráficas confirman </a:t>
            </a:r>
            <a:r>
              <a:rPr lang="en-US" sz="9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tendencias lineales positivas</a:t>
            </a:r>
            <a:r>
              <a:rPr lang="en-US" sz="9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entre todas las variables y el consumo energético.</a:t>
            </a:r>
            <a:endParaRPr lang="en-US" sz="950" dirty="0"/>
          </a:p>
        </p:txBody>
      </p:sp>
      <p:sp>
        <p:nvSpPr>
          <p:cNvPr id="13" name="Shape 6"/>
          <p:cNvSpPr/>
          <p:nvPr/>
        </p:nvSpPr>
        <p:spPr>
          <a:xfrm>
            <a:off x="428625" y="2277070"/>
            <a:ext cx="2666991" cy="2580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7"/>
          <p:cNvSpPr/>
          <p:nvPr/>
        </p:nvSpPr>
        <p:spPr>
          <a:xfrm>
            <a:off x="1020941" y="2419945"/>
            <a:ext cx="2610455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Temperatura vs Consumo</a:t>
            </a:r>
            <a:endParaRPr lang="en-US" sz="950" dirty="0"/>
          </a:p>
        </p:txBody>
      </p:sp>
      <p:sp>
        <p:nvSpPr>
          <p:cNvPr id="16" name="Shape 8"/>
          <p:cNvSpPr/>
          <p:nvPr/>
        </p:nvSpPr>
        <p:spPr>
          <a:xfrm>
            <a:off x="4922029" y="2485576"/>
            <a:ext cx="2666991" cy="2580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9"/>
          <p:cNvSpPr/>
          <p:nvPr/>
        </p:nvSpPr>
        <p:spPr>
          <a:xfrm>
            <a:off x="5376672" y="2419945"/>
            <a:ext cx="1987296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Personas vs Consumo</a:t>
            </a:r>
            <a:endParaRPr lang="en-US" sz="950" dirty="0"/>
          </a:p>
        </p:txBody>
      </p:sp>
      <p:sp>
        <p:nvSpPr>
          <p:cNvPr id="20" name="Text 11"/>
          <p:cNvSpPr/>
          <p:nvPr/>
        </p:nvSpPr>
        <p:spPr>
          <a:xfrm>
            <a:off x="6737114" y="2419945"/>
            <a:ext cx="1289447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95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D1A7C9C5-2EAB-3F95-B60C-C580A4B3585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6138"/>
          <a:stretch>
            <a:fillRect/>
          </a:stretch>
        </p:blipFill>
        <p:spPr>
          <a:xfrm>
            <a:off x="921544" y="2671969"/>
            <a:ext cx="2563286" cy="193375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836C9BC-3641-A38D-C809-AC60B62CAB3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3033" r="-3031"/>
          <a:stretch>
            <a:fillRect/>
          </a:stretch>
        </p:blipFill>
        <p:spPr>
          <a:xfrm>
            <a:off x="4968093" y="2739047"/>
            <a:ext cx="2828782" cy="19514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07281"/>
          </a:xfrm>
          <a:prstGeom prst="rect">
            <a:avLst/>
          </a:prstGeom>
          <a:solidFill>
            <a:srgbClr val="1A2E4A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10766"/>
            <a:ext cx="214313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5813" y="285750"/>
            <a:ext cx="7929563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Las Predicciones se Alinean con los Valores Reales con Mínimo Margen de Error</a:t>
            </a:r>
            <a:endParaRPr lang="en-US" sz="17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414463"/>
            <a:ext cx="171450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07231" y="1393031"/>
            <a:ext cx="335820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gráfica "Valores Reales vs. Predicciones" demuestra la alta precisión del modelo.</a:t>
            </a:r>
            <a:endParaRPr lang="en-US" sz="10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1971675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07231" y="1950244"/>
            <a:ext cx="335820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Los puntos se distribuyen muy cerca de la línea diagonal perfecta.</a:t>
            </a:r>
            <a:endParaRPr lang="en-US" sz="10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2528888"/>
            <a:ext cx="171450" cy="1714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07231" y="2507456"/>
            <a:ext cx="335820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Mínima dispersión equivale a un mínimo error de predicción.</a:t>
            </a:r>
            <a:endParaRPr lang="en-US" sz="10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25" y="3086100"/>
            <a:ext cx="171450" cy="17145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07231" y="3064669"/>
            <a:ext cx="335820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Confirma que el modelo generaliza correctamente a datos nuevos.</a:t>
            </a:r>
            <a:endParaRPr lang="en-US" sz="1050" dirty="0"/>
          </a:p>
        </p:txBody>
      </p:sp>
      <p:sp>
        <p:nvSpPr>
          <p:cNvPr id="14" name="Shape 6"/>
          <p:cNvSpPr/>
          <p:nvPr/>
        </p:nvSpPr>
        <p:spPr>
          <a:xfrm>
            <a:off x="4351186" y="1393031"/>
            <a:ext cx="4364189" cy="242887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Shape 7"/>
          <p:cNvSpPr/>
          <p:nvPr/>
        </p:nvSpPr>
        <p:spPr>
          <a:xfrm>
            <a:off x="0" y="4500563"/>
            <a:ext cx="9144000" cy="642938"/>
          </a:xfrm>
          <a:prstGeom prst="rect">
            <a:avLst/>
          </a:prstGeom>
          <a:solidFill>
            <a:srgbClr val="1A2E4A"/>
          </a:solidFill>
          <a:ln/>
        </p:spPr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625" y="4714875"/>
            <a:ext cx="214313" cy="214313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785813" y="4629150"/>
            <a:ext cx="79295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validación visual confirma que el modelo no presenta sobreajuste (overfitting) y es altamente confiable para realizar predicciones en nuevos hogares.</a:t>
            </a:r>
            <a:endParaRPr lang="en-US" sz="95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59868E2E-B29D-0D70-01F5-8F14760FF8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1186" y="1334570"/>
            <a:ext cx="4364190" cy="2634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A2E4A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85750"/>
            <a:ext cx="214313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5813" y="294680"/>
            <a:ext cx="7311628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 Uso de TV es el Factor con Mayor Impacto en el Consumo Energético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428625" y="1214438"/>
            <a:ext cx="4325206" cy="24235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428625" y="1214438"/>
            <a:ext cx="1266676" cy="437555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8" name="Text 4"/>
          <p:cNvSpPr/>
          <p:nvPr/>
        </p:nvSpPr>
        <p:spPr>
          <a:xfrm>
            <a:off x="428625" y="1214438"/>
            <a:ext cx="1266676" cy="437555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Variable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1695301" y="1214438"/>
            <a:ext cx="1737215" cy="437555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0" name="Text 6"/>
          <p:cNvSpPr/>
          <p:nvPr/>
        </p:nvSpPr>
        <p:spPr>
          <a:xfrm>
            <a:off x="1695301" y="1214438"/>
            <a:ext cx="1737215" cy="43755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Impacto en el Consumo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432516" y="1214438"/>
            <a:ext cx="1321315" cy="437555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2" name="Text 8"/>
          <p:cNvSpPr/>
          <p:nvPr/>
        </p:nvSpPr>
        <p:spPr>
          <a:xfrm>
            <a:off x="3432516" y="1214438"/>
            <a:ext cx="1321315" cy="43755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Nivel de Impacto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827907"/>
            <a:ext cx="160734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3672" y="1820763"/>
            <a:ext cx="59471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Horas_TV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1695301" y="1651992"/>
            <a:ext cx="1737215" cy="49291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+22.50 unidades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575391" y="1794867"/>
            <a:ext cx="351830" cy="203597"/>
          </a:xfrm>
          <a:prstGeom prst="rect">
            <a:avLst/>
          </a:prstGeom>
          <a:solidFill>
            <a:srgbClr val="FFE4E6"/>
          </a:solidFill>
          <a:ln/>
        </p:spPr>
      </p:sp>
      <p:sp>
        <p:nvSpPr>
          <p:cNvPr id="17" name="Text 12"/>
          <p:cNvSpPr/>
          <p:nvPr/>
        </p:nvSpPr>
        <p:spPr>
          <a:xfrm>
            <a:off x="3575391" y="1794867"/>
            <a:ext cx="351830" cy="203597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11D4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Alto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428625" y="2144911"/>
            <a:ext cx="4325206" cy="496491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324398"/>
            <a:ext cx="80367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3305" y="2317254"/>
            <a:ext cx="7643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Temperatura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695301" y="2144911"/>
            <a:ext cx="1737215" cy="4964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+7.50 unidades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575391" y="2291358"/>
            <a:ext cx="451842" cy="203597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3" name="Text 17"/>
          <p:cNvSpPr/>
          <p:nvPr/>
        </p:nvSpPr>
        <p:spPr>
          <a:xfrm>
            <a:off x="3575391" y="2291358"/>
            <a:ext cx="451842" cy="203597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D97706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Medio</a:t>
            </a:r>
            <a:endParaRPr lang="en-US" sz="7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820888"/>
            <a:ext cx="160734" cy="128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03672" y="2813745"/>
            <a:ext cx="57507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Personas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1695301" y="2641402"/>
            <a:ext cx="1737215" cy="4964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+6.25 unidades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3575391" y="2787848"/>
            <a:ext cx="451842" cy="203597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8" name="Text 21"/>
          <p:cNvSpPr/>
          <p:nvPr/>
        </p:nvSpPr>
        <p:spPr>
          <a:xfrm>
            <a:off x="3575391" y="2787848"/>
            <a:ext cx="451842" cy="203597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D97706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Medio</a:t>
            </a:r>
            <a:endParaRPr lang="en-US" sz="750" dirty="0"/>
          </a:p>
        </p:txBody>
      </p:sp>
      <p:sp>
        <p:nvSpPr>
          <p:cNvPr id="29" name="Shape 22"/>
          <p:cNvSpPr/>
          <p:nvPr/>
        </p:nvSpPr>
        <p:spPr>
          <a:xfrm>
            <a:off x="428625" y="3137892"/>
            <a:ext cx="4325206" cy="496491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317379"/>
            <a:ext cx="128588" cy="1285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71525" y="3310235"/>
            <a:ext cx="60007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Horas_AC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1695301" y="3137892"/>
            <a:ext cx="1737215" cy="4964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+5.00 unidades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3575391" y="3284339"/>
            <a:ext cx="628650" cy="203597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4" name="Text 26"/>
          <p:cNvSpPr/>
          <p:nvPr/>
        </p:nvSpPr>
        <p:spPr>
          <a:xfrm>
            <a:off x="3575391" y="3284339"/>
            <a:ext cx="628650" cy="203597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6A3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Moderado</a:t>
            </a:r>
            <a:endParaRPr lang="en-US" sz="750" dirty="0"/>
          </a:p>
        </p:txBody>
      </p:sp>
      <p:sp>
        <p:nvSpPr>
          <p:cNvPr id="35" name="Shape 27"/>
          <p:cNvSpPr/>
          <p:nvPr/>
        </p:nvSpPr>
        <p:spPr>
          <a:xfrm>
            <a:off x="5111018" y="1214438"/>
            <a:ext cx="3604357" cy="30003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5331" y="1443038"/>
            <a:ext cx="171450" cy="17145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603937" y="1428750"/>
            <a:ext cx="12215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A2E4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Hallazgos Clave</a:t>
            </a:r>
            <a:endParaRPr lang="en-US" sz="125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5331" y="1843088"/>
            <a:ext cx="100013" cy="11430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532500" y="1807369"/>
            <a:ext cx="29685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uso de TV es el factor con mayor impacto energético (+22.50 unidades por hora adicional).</a:t>
            </a:r>
            <a:endParaRPr lang="en-US" sz="95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5331" y="2371725"/>
            <a:ext cx="100013" cy="11430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532500" y="2336006"/>
            <a:ext cx="29685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aumento de temperatura incrementa significativamente el consumo eléctrico.</a:t>
            </a:r>
            <a:endParaRPr lang="en-US" sz="95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5331" y="2900363"/>
            <a:ext cx="100013" cy="11430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532500" y="2864644"/>
            <a:ext cx="29685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Hogares con más personas presentan mayor demanda energética.</a:t>
            </a:r>
            <a:endParaRPr lang="en-US" sz="95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5331" y="3429000"/>
            <a:ext cx="100013" cy="11430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5532500" y="3393281"/>
            <a:ext cx="29685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aire acondicionado, aunque relevante, tiene el menor coeficiente entre las variables analizadas.</a:t>
            </a:r>
            <a:endParaRPr lang="en-US" sz="950" dirty="0"/>
          </a:p>
        </p:txBody>
      </p:sp>
      <p:sp>
        <p:nvSpPr>
          <p:cNvPr id="46" name="Shape 3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E4A"/>
          </a:solidFill>
          <a:ln/>
        </p:spPr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5750" y="4750594"/>
            <a:ext cx="160734" cy="214313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589359" y="4761309"/>
            <a:ext cx="59561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Conocer el peso de cada variable permite diseñar estrategias de ahorro energético focalizadas y efectivas.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00038"/>
            <a:ext cx="171450" cy="171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8638" y="285750"/>
            <a:ext cx="80188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EcoEnergy</a:t>
            </a:r>
            <a:endParaRPr lang="en-US" sz="1250" dirty="0"/>
          </a:p>
        </p:txBody>
      </p:sp>
      <p:sp>
        <p:nvSpPr>
          <p:cNvPr id="5" name="Text 1"/>
          <p:cNvSpPr/>
          <p:nvPr/>
        </p:nvSpPr>
        <p:spPr>
          <a:xfrm>
            <a:off x="928688" y="635654"/>
            <a:ext cx="7286625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EcoEnergy – Inteligencia al Servicio del Ahorro Energético</a:t>
            </a:r>
            <a:endParaRPr lang="en-US" sz="3050" dirty="0"/>
          </a:p>
        </p:txBody>
      </p:sp>
      <p:sp>
        <p:nvSpPr>
          <p:cNvPr id="6" name="Text 2"/>
          <p:cNvSpPr/>
          <p:nvPr/>
        </p:nvSpPr>
        <p:spPr>
          <a:xfrm>
            <a:off x="928688" y="1702919"/>
            <a:ext cx="7286625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700" kern="0" spc="2" dirty="0">
                <a:solidFill>
                  <a:srgbClr val="2ECC71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PREDICCIÓN. OPTIMIZACIÓN. SOSTENIBILIDAD.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928688" y="2380124"/>
            <a:ext cx="7286625" cy="98293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928688" y="2380124"/>
            <a:ext cx="57150" cy="982935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9" name="Text 5"/>
          <p:cNvSpPr/>
          <p:nvPr/>
        </p:nvSpPr>
        <p:spPr>
          <a:xfrm>
            <a:off x="1214438" y="2551574"/>
            <a:ext cx="671512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i="1" dirty="0">
                <a:solidFill>
                  <a:srgbClr val="F4F6F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"Con EcoEnergy, cada hogar puede conocer, controlar y reducir su consumo energético mediante el poder del Machine Learning."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928688" y="3648810"/>
            <a:ext cx="2333634" cy="100191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928688" y="3648810"/>
            <a:ext cx="2333634" cy="28575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6903" y="3809544"/>
            <a:ext cx="257175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14413" y="4279246"/>
            <a:ext cx="21621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Predicción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3405197" y="3648810"/>
            <a:ext cx="2333634" cy="100191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3405197" y="3648810"/>
            <a:ext cx="2333634" cy="28575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119" y="3809544"/>
            <a:ext cx="385763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490922" y="4279246"/>
            <a:ext cx="21621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Optimización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881706" y="3648810"/>
            <a:ext cx="2333634" cy="100191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Shape 13"/>
          <p:cNvSpPr/>
          <p:nvPr/>
        </p:nvSpPr>
        <p:spPr>
          <a:xfrm>
            <a:off x="5881706" y="3648810"/>
            <a:ext cx="2333634" cy="28575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7059" y="3823832"/>
            <a:ext cx="342900" cy="3429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967431" y="4293533"/>
            <a:ext cx="21621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Sostenibilidad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409</Words>
  <Application>Microsoft Office PowerPoint</Application>
  <PresentationFormat>Presentación en pantalla (16:9)</PresentationFormat>
  <Paragraphs>63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Roboto Light</vt:lpstr>
      <vt:lpstr>Roboto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USUARIO</cp:lastModifiedBy>
  <cp:revision>2</cp:revision>
  <dcterms:created xsi:type="dcterms:W3CDTF">2026-05-13T15:38:48Z</dcterms:created>
  <dcterms:modified xsi:type="dcterms:W3CDTF">2026-05-13T16:49:06Z</dcterms:modified>
</cp:coreProperties>
</file>